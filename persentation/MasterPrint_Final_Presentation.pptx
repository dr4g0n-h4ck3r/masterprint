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2e177618f4567" /><Relationship Type="http://schemas.openxmlformats.org/officeDocument/2006/relationships/extended-properties" Target="/docProps/app.xml" Id="Rd3d8513ea4804fca" /><Relationship Type="http://schemas.openxmlformats.org/officeDocument/2006/relationships/officeDocument" Target="/ppt/presentation.xml" Id="Rf3d0a2b41f4a4d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5f1ddd6164bf4"/>
  </p:sldMasterIdLst>
  <p:notesMasterIdLst>
    <p:notesMasterId xmlns:r="http://schemas.openxmlformats.org/officeDocument/2006/relationships" r:id="R2c70c92fda4745bd"/>
  </p:notesMasterIdLst>
  <p:sldIdLst>
    <p:sldId xmlns:r="http://schemas.openxmlformats.org/officeDocument/2006/relationships" id="256" r:id="R2443195604724d47"/>
    <p:sldId xmlns:r="http://schemas.openxmlformats.org/officeDocument/2006/relationships" id="257" r:id="Rcae3d7fdfaab4312"/>
    <p:sldId xmlns:r="http://schemas.openxmlformats.org/officeDocument/2006/relationships" id="258" r:id="R006e9dcecb1b49d0"/>
    <p:sldId xmlns:r="http://schemas.openxmlformats.org/officeDocument/2006/relationships" id="259" r:id="R7c0aec81a0ad4e2a"/>
    <p:sldId xmlns:r="http://schemas.openxmlformats.org/officeDocument/2006/relationships" id="260" r:id="R9b3a357e39034f43"/>
    <p:sldId xmlns:r="http://schemas.openxmlformats.org/officeDocument/2006/relationships" id="261" r:id="Rae976e908c704b86"/>
    <p:sldId xmlns:r="http://schemas.openxmlformats.org/officeDocument/2006/relationships" id="262" r:id="R758162cdc0744f3b"/>
    <p:sldId xmlns:r="http://schemas.openxmlformats.org/officeDocument/2006/relationships" id="263" r:id="R6b0d2a10452f4e53"/>
    <p:sldId xmlns:r="http://schemas.openxmlformats.org/officeDocument/2006/relationships" id="264" r:id="Rdc39260304264535"/>
    <p:sldId xmlns:r="http://schemas.openxmlformats.org/officeDocument/2006/relationships" id="265" r:id="R8077967c7fbb4776"/>
    <p:sldId xmlns:r="http://schemas.openxmlformats.org/officeDocument/2006/relationships" id="266" r:id="Rc67a0364212d4e79"/>
    <p:sldId xmlns:r="http://schemas.openxmlformats.org/officeDocument/2006/relationships" id="267" r:id="R4cba018cd94f4f02"/>
    <p:sldId xmlns:r="http://schemas.openxmlformats.org/officeDocument/2006/relationships" id="268" r:id="Ra7d354469b384592"/>
    <p:sldId xmlns:r="http://schemas.openxmlformats.org/officeDocument/2006/relationships" id="269" r:id="Rb9d4f2fcae6a4711"/>
    <p:sldId xmlns:r="http://schemas.openxmlformats.org/officeDocument/2006/relationships" id="270" r:id="R94ca62ac67f1417a"/>
    <p:sldId xmlns:r="http://schemas.openxmlformats.org/officeDocument/2006/relationships" id="271" r:id="R8a94c9f0af254403"/>
    <p:sldId xmlns:r="http://schemas.openxmlformats.org/officeDocument/2006/relationships" id="272" r:id="Rc6f063542c00421f"/>
    <p:sldId xmlns:r="http://schemas.openxmlformats.org/officeDocument/2006/relationships" id="273" r:id="R790ce861b7df4f61"/>
    <p:sldId xmlns:r="http://schemas.openxmlformats.org/officeDocument/2006/relationships" id="274" r:id="R88f723d248d0400d"/>
    <p:sldId xmlns:r="http://schemas.openxmlformats.org/officeDocument/2006/relationships" id="275" r:id="R5944b277b0434798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3376ea5c134a2d" /><Relationship Type="http://schemas.openxmlformats.org/officeDocument/2006/relationships/slideMaster" Target="/ppt/slideMasters/slideMaster1.xml" Id="R80c5f1ddd6164bf4" /><Relationship Type="http://schemas.openxmlformats.org/officeDocument/2006/relationships/notesMaster" Target="/ppt/notesMasters/notesMaster1.xml" Id="R2c70c92fda4745bd" /><Relationship Type="http://schemas.openxmlformats.org/officeDocument/2006/relationships/presProps" Target="/ppt/presProps.xml" Id="Re4777a0b84bd469e" /><Relationship Type="http://schemas.openxmlformats.org/officeDocument/2006/relationships/viewProps" Target="/ppt/viewProps.xml" Id="R6cd199399f804cea" /><Relationship Type="http://schemas.openxmlformats.org/officeDocument/2006/relationships/tableStyles" Target="/ppt/tableStyles.xml" Id="Rde8f0992b7f547c6" /><Relationship Type="http://schemas.openxmlformats.org/officeDocument/2006/relationships/slide" Target="/ppt/slides/slide1.xml" Id="R2443195604724d47" /><Relationship Type="http://schemas.openxmlformats.org/officeDocument/2006/relationships/slide" Target="/ppt/slides/slide2.xml" Id="Rcae3d7fdfaab4312" /><Relationship Type="http://schemas.openxmlformats.org/officeDocument/2006/relationships/slide" Target="/ppt/slides/slide3.xml" Id="R006e9dcecb1b49d0" /><Relationship Type="http://schemas.openxmlformats.org/officeDocument/2006/relationships/slide" Target="/ppt/slides/slide4.xml" Id="R7c0aec81a0ad4e2a" /><Relationship Type="http://schemas.openxmlformats.org/officeDocument/2006/relationships/slide" Target="/ppt/slides/slide5.xml" Id="R9b3a357e39034f43" /><Relationship Type="http://schemas.openxmlformats.org/officeDocument/2006/relationships/slide" Target="/ppt/slides/slide6.xml" Id="Rae976e908c704b86" /><Relationship Type="http://schemas.openxmlformats.org/officeDocument/2006/relationships/slide" Target="/ppt/slides/slide7.xml" Id="R758162cdc0744f3b" /><Relationship Type="http://schemas.openxmlformats.org/officeDocument/2006/relationships/slide" Target="/ppt/slides/slide8.xml" Id="R6b0d2a10452f4e53" /><Relationship Type="http://schemas.openxmlformats.org/officeDocument/2006/relationships/slide" Target="/ppt/slides/slide9.xml" Id="Rdc39260304264535" /><Relationship Type="http://schemas.openxmlformats.org/officeDocument/2006/relationships/slide" Target="/ppt/slides/slide10.xml" Id="R8077967c7fbb4776" /><Relationship Type="http://schemas.openxmlformats.org/officeDocument/2006/relationships/slide" Target="/ppt/slides/slide11.xml" Id="Rc67a0364212d4e79" /><Relationship Type="http://schemas.openxmlformats.org/officeDocument/2006/relationships/slide" Target="/ppt/slides/slide12.xml" Id="R4cba018cd94f4f02" /><Relationship Type="http://schemas.openxmlformats.org/officeDocument/2006/relationships/slide" Target="/ppt/slides/slide13.xml" Id="Ra7d354469b384592" /><Relationship Type="http://schemas.openxmlformats.org/officeDocument/2006/relationships/slide" Target="/ppt/slides/slide14.xml" Id="Rb9d4f2fcae6a4711" /><Relationship Type="http://schemas.openxmlformats.org/officeDocument/2006/relationships/slide" Target="/ppt/slides/slide15.xml" Id="R94ca62ac67f1417a" /><Relationship Type="http://schemas.openxmlformats.org/officeDocument/2006/relationships/slide" Target="/ppt/slides/slide16.xml" Id="R8a94c9f0af254403" /><Relationship Type="http://schemas.openxmlformats.org/officeDocument/2006/relationships/slide" Target="/ppt/slides/slide17.xml" Id="Rc6f063542c00421f" /><Relationship Type="http://schemas.openxmlformats.org/officeDocument/2006/relationships/slide" Target="/ppt/slides/slide18.xml" Id="R790ce861b7df4f61" /><Relationship Type="http://schemas.openxmlformats.org/officeDocument/2006/relationships/slide" Target="/ppt/slides/slide19.xml" Id="R88f723d248d0400d" /><Relationship Type="http://schemas.openxmlformats.org/officeDocument/2006/relationships/slide" Target="/ppt/slides/slide20.xml" Id="R5944b277b04347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f7c24438594f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3fefb806140bd" /><Relationship Type="http://schemas.openxmlformats.org/officeDocument/2006/relationships/notesMaster" Target="/ppt/notesMasters/notesMaster1.xml" Id="R5dfbdbac9b57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3f3a046f644f8" /><Relationship Type="http://schemas.openxmlformats.org/officeDocument/2006/relationships/notesMaster" Target="/ppt/notesMasters/notesMaster1.xml" Id="R9064530eb221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2c8cfb247848af" /><Relationship Type="http://schemas.openxmlformats.org/officeDocument/2006/relationships/notesMaster" Target="/ppt/notesMasters/notesMaster1.xml" Id="Rfa4db3a5ed044f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f3423b757f42a7" /><Relationship Type="http://schemas.openxmlformats.org/officeDocument/2006/relationships/notesMaster" Target="/ppt/notesMasters/notesMaster1.xml" Id="Rb6780562cb52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f9ba08fe3242fe" /><Relationship Type="http://schemas.openxmlformats.org/officeDocument/2006/relationships/notesMaster" Target="/ppt/notesMasters/notesMaster1.xml" Id="Rc26dde4d6528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9a7f1a72594bfe" /><Relationship Type="http://schemas.openxmlformats.org/officeDocument/2006/relationships/notesMaster" Target="/ppt/notesMasters/notesMaster1.xml" Id="Re17d7a8f3f4949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ac7259db64499c" /><Relationship Type="http://schemas.openxmlformats.org/officeDocument/2006/relationships/notesMaster" Target="/ppt/notesMasters/notesMaster1.xml" Id="R039a00ec52af46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0bf7c0e7f2400f" /><Relationship Type="http://schemas.openxmlformats.org/officeDocument/2006/relationships/notesMaster" Target="/ppt/notesMasters/notesMaster1.xml" Id="Rff8a6fe89dfe43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fbb27a79e641e7" /><Relationship Type="http://schemas.openxmlformats.org/officeDocument/2006/relationships/notesMaster" Target="/ppt/notesMasters/notesMaster1.xml" Id="Rf523aa25297e4f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4b3a683ee0418a" /><Relationship Type="http://schemas.openxmlformats.org/officeDocument/2006/relationships/notesMaster" Target="/ppt/notesMasters/notesMaster1.xml" Id="R68a9824ce45240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f5f078887f489d" /><Relationship Type="http://schemas.openxmlformats.org/officeDocument/2006/relationships/notesMaster" Target="/ppt/notesMasters/notesMaster1.xml" Id="Rcd81baaaeaba48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445ca4bcd34a3e" /><Relationship Type="http://schemas.openxmlformats.org/officeDocument/2006/relationships/notesMaster" Target="/ppt/notesMasters/notesMaster1.xml" Id="R73b9be89f7834f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00b04cae294e60" /><Relationship Type="http://schemas.openxmlformats.org/officeDocument/2006/relationships/notesMaster" Target="/ppt/notesMasters/notesMaster1.xml" Id="Ra4d634f1bd0641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28ffa6001c4429" /><Relationship Type="http://schemas.openxmlformats.org/officeDocument/2006/relationships/notesMaster" Target="/ppt/notesMasters/notesMaster1.xml" Id="Rbcd80fd017664b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5e992d39774a10" /><Relationship Type="http://schemas.openxmlformats.org/officeDocument/2006/relationships/notesMaster" Target="/ppt/notesMasters/notesMaster1.xml" Id="R27fc35908de548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b2add897d146ef" /><Relationship Type="http://schemas.openxmlformats.org/officeDocument/2006/relationships/notesMaster" Target="/ppt/notesMasters/notesMaster1.xml" Id="Rb2b736fd0a1345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1b42714c30488a" /><Relationship Type="http://schemas.openxmlformats.org/officeDocument/2006/relationships/notesMaster" Target="/ppt/notesMasters/notesMaster1.xml" Id="Re220748021c043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e712524690496d" /><Relationship Type="http://schemas.openxmlformats.org/officeDocument/2006/relationships/notesMaster" Target="/ppt/notesMasters/notesMaster1.xml" Id="R81fec26ea51041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a12abbd496454c" /><Relationship Type="http://schemas.openxmlformats.org/officeDocument/2006/relationships/notesMaster" Target="/ppt/notesMasters/notesMaster1.xml" Id="Rf793b90db2654e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fed9cce4874d79" /><Relationship Type="http://schemas.openxmlformats.org/officeDocument/2006/relationships/notesMaster" Target="/ppt/notesMasters/notesMaster1.xml" Id="R5ca00ee8eabd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project implements an offline research baseline. Results use 300 real SOCOFing left-index fingerprint images. The experiment does not validate phone unlocking or physical presentation attacks. Source: https://arxiv.org/abs/1807.10609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Roy, Memon and Ross, IEEE TIFS 2017, https://cse.msu.edu/~rossarun/pubs/RoyMemonRossMasterPrint_TIFS2017.pdf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Roy et al. 2017, DOI 10.1109/TIFS.2017.2691658. Bontrager et al., DeepMasterPrints, BTAS 2018, https://arxiv.org/abs/1705.07386.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Shehu, Ruiz-Garcia, Palade and James (2018), https://arxiv.org/abs/1807.10609. Original distribution: https://www.kaggle.com/datasets/ruizgara/socofing. Noncommercial research, CC BY-NC-SA 4.0. See package DATASET_NOTICE.md.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results/minutiae/manifest.json. IDs 1–300, shuffled with NumPy generator seed 42. No person appears in more than one role. Each candidate person contributes five correlated crops.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values: results/minutiae/report.json and results/orb/report.json. FMR uses identity-level OR acceptance over three templates. There are 50 genuine and 2450 impostor comparisons. EER is a discrete empirical estimate, inflated by same-image genuine 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from saved genuine and impostor score arrays in scores.npz. Frequencies normalize each distribution separately. Same-image crops explain the favorable genuine separation.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results/minutiae/report.json, detector.test. Operating threshold selected from validation negatives to target approximately 5% false alarms. Test crops: 125 from 25 previously unseen people. Crop samples remain correlated.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both report.json files, detector.test and test_coverage. Settings: 300 people, 70%-side crops, target calibration FMR 1%,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results/minutiae/scores.npz. All 125 test crops are compared with 50 target identities, using three enrolled templates per identity. Interval uses 1000 resamples of candidate people, with the target gallery held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results/minutiae/report.json, selection.results. Discovery gallery 50 identities, target gallery 50 other identities. Each policy selects 10 of 125 test crops. A person may contribute more than one selected crop. This is an exploratory single-seed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bars use proportions. Source: results/minutiae/report.json, selection.results. Union coverage reflects an OR across ten different probes and must not be presented as single-probe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https://cse.msu.edu/~rossarun/pubs/RoyMemonRossMasterPrint_TIFS2017.pdf ; https://arxiv.org/abs/1807.10609 ; https://arxiv.org/abs/1705.07386 ; https://www.kaggle.com/datasets/ruizgara/socofing . All project metrics derive from saved local experiment reports and raw scores. No published attack-accuracy numbers are claimed as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95b46374f47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4c107c9ca45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94f35a3d94a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d44d6d56042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b11f8283f46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12973b5a845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6055430a44c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9915e55b541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4c2c8033742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c0ec60d08490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8858500044bc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C190A0-F50C-4455-873D-3FC346F7378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384752-A49D-4C34-AE05-7217063744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D25144-805D-46B4-A9B5-AB0E853DB9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CCF414-B4E6-40C7-8F84-BF7D290939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55284D-4AF5-48F6-99B0-B1FD870C6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4B206D-905A-4F4A-BAEF-4D7E5E21D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9BA8F3-D78A-4660-8DD8-3E9C515C29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8673DF-632E-4493-9D76-C1E1570B4E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F02080-EBB3-46F3-9C22-CB34CFFF58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1D70E6-DBD9-468A-80F8-B3AD1D4FA8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B82920-1214-4256-99B9-7EE1AAA988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28030E-F4A0-4A84-ACB8-1442090F5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2A05B7-A762-499F-9C3B-BCA0CCDD9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2242FC-64DF-4448-807F-1B1E4AFCB7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E01B17-63BF-4E37-91F3-52C68E033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F81B30-4701-45CD-B6B9-AB370EDB6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24E251-8A12-4609-BD40-2B263B7233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5B7A0A0-EF1F-444B-B4CC-8BCE55DF93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0D84F5-36F9-4B3D-A730-115273B3CF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5E69D80-CE6F-4ED6-B547-BA9F841ADC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1AAF3E8-720D-47BE-A043-E62BD732C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A24D86-4A8F-4A36-944D-9980CC25C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891259-E5E3-4018-A9DD-4EF8C9EB6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5647CAD-A13D-4B2D-A1E3-963EE44C9D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C6653BA-64A9-4B4C-9A5C-174BDBC6E2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61635B3-14A2-40AC-B485-59E8EE8144A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7D7D995-28FE-44F5-863E-37E1B497A3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36880D8-A770-4167-8C7B-313FE78C2C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BDF8884-131E-4369-BC09-B6DB435626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DEA64A-6495-4662-B6B4-51B3928B0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0D460E0-1CD8-4C70-A34D-C67A18716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6EF6ADA-B7C9-4BE1-ABCE-9DCAFF88AA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0EBD1DF-D6DA-4A5B-8174-CE4AC6CB7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585EBA-67AB-49C8-9E66-602EC0B7DC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AE86339-6142-4ACA-928D-B9A1CABCF9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163747F-0B03-42F6-A8AB-AF7F759F6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13A2C9-EDC9-4A5F-A8AD-756ACAA88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0B649E-FF23-4DF3-B337-8BA8324282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9D2B1CC-2C3B-48D1-B473-9B5E22CEDB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A85E67E-9834-4A51-B05C-5E3217C970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1A3CBC2-CAD1-4613-B516-DC3B26F610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2186AE-EF66-441D-9AE6-298E80208A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1A1709-1CE6-45B2-A4A3-772FF5811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489B0C9-60D6-4702-8328-3C22336AC1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2BBC40-79C1-4013-96D3-58DD5FCE25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0F86C88-3C49-45B5-B103-BBA3BDBAC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AA5A81-B0A5-4865-AC96-5EBB1E1CE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4BE48C-AA8D-4611-A678-8EB9723328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F8F8D3-D9D6-4149-937B-6D7DDA9F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B9F641-0831-40FE-8562-11FE47D08F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99AC7D-1C89-41FD-A01B-149BABA72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411B7B-D78B-42E9-A1CE-976491A720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C2302B-EDAD-460D-8518-B423F77E84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8A7DFD8-FC22-4629-8B80-CA36635C4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7BCAC6-7DA8-4856-90D4-F2B4415495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AFD763-373F-42BF-B9E2-D8EB7DBF2C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743F42-3A22-4207-A08A-D768D486D2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814CBC-6222-42B4-AD5F-3CE2799D59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e60ee8e4c14112" /><Relationship Type="http://schemas.openxmlformats.org/officeDocument/2006/relationships/slideLayout" Target="/ppt/slideLayouts/slideLayout1.xml" Id="R9acd0036c8144d8a" /><Relationship Type="http://schemas.openxmlformats.org/officeDocument/2006/relationships/slideLayout" Target="/ppt/slideLayouts/slideLayout2.xml" Id="Rb4965dc7f4724b8c" /><Relationship Type="http://schemas.openxmlformats.org/officeDocument/2006/relationships/slideLayout" Target="/ppt/slideLayouts/slideLayout3.xml" Id="R2de26198a823457a" /><Relationship Type="http://schemas.openxmlformats.org/officeDocument/2006/relationships/slideLayout" Target="/ppt/slideLayouts/slideLayout4.xml" Id="Rc7bee03fa6ef4559" /><Relationship Type="http://schemas.openxmlformats.org/officeDocument/2006/relationships/slideLayout" Target="/ppt/slideLayouts/slideLayout5.xml" Id="R7c1bc9da9a0b4384" /><Relationship Type="http://schemas.openxmlformats.org/officeDocument/2006/relationships/slideLayout" Target="/ppt/slideLayouts/slideLayout6.xml" Id="R266a560a247744d2" /><Relationship Type="http://schemas.openxmlformats.org/officeDocument/2006/relationships/slideLayout" Target="/ppt/slideLayouts/slideLayout7.xml" Id="R6784b904bce34f6e" /><Relationship Type="http://schemas.openxmlformats.org/officeDocument/2006/relationships/slideLayout" Target="/ppt/slideLayouts/slideLayout8.xml" Id="R76a0f41cf1414f1d" /><Relationship Type="http://schemas.openxmlformats.org/officeDocument/2006/relationships/slideLayout" Target="/ppt/slideLayouts/slideLayout9.xml" Id="R5d715557cee24d4f" /><Relationship Type="http://schemas.openxmlformats.org/officeDocument/2006/relationships/slideLayout" Target="/ppt/slideLayouts/slideLayout10.xml" Id="R04c7b322fb7f428d" /><Relationship Type="http://schemas.openxmlformats.org/officeDocument/2006/relationships/slideLayout" Target="/ppt/slideLayouts/slideLayout11.xml" Id="R647621c9eb034c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EA3C3D-4852-4018-80EF-51D34084B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E4C811-AD59-47F5-96AB-4D63474FF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41E242-1F1E-4FC8-A019-B33C03C46B4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52DB04-3ADA-40E7-9097-57C13E421F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E94C6C-7CEB-4C92-823B-17632DCF06F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d0036c8144d8a"/>
    <p:sldLayoutId xmlns:r="http://schemas.openxmlformats.org/officeDocument/2006/relationships" id="2147483650" r:id="Rb4965dc7f4724b8c"/>
    <p:sldLayoutId xmlns:r="http://schemas.openxmlformats.org/officeDocument/2006/relationships" id="2147483651" r:id="R2de26198a823457a"/>
    <p:sldLayoutId xmlns:r="http://schemas.openxmlformats.org/officeDocument/2006/relationships" id="2147483652" r:id="Rc7bee03fa6ef4559"/>
    <p:sldLayoutId xmlns:r="http://schemas.openxmlformats.org/officeDocument/2006/relationships" id="2147483653" r:id="R7c1bc9da9a0b4384"/>
    <p:sldLayoutId xmlns:r="http://schemas.openxmlformats.org/officeDocument/2006/relationships" id="2147483654" r:id="R266a560a247744d2"/>
    <p:sldLayoutId xmlns:r="http://schemas.openxmlformats.org/officeDocument/2006/relationships" id="2147483655" r:id="R6784b904bce34f6e"/>
    <p:sldLayoutId xmlns:r="http://schemas.openxmlformats.org/officeDocument/2006/relationships" id="2147483656" r:id="R76a0f41cf1414f1d"/>
    <p:sldLayoutId xmlns:r="http://schemas.openxmlformats.org/officeDocument/2006/relationships" id="2147483657" r:id="R5d715557cee24d4f"/>
    <p:sldLayoutId xmlns:r="http://schemas.openxmlformats.org/officeDocument/2006/relationships" id="2147483658" r:id="R04c7b322fb7f428d"/>
    <p:sldLayoutId xmlns:r="http://schemas.openxmlformats.org/officeDocument/2006/relationships" id="2147483659" r:id="R647621c9eb034c3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8f5f0e99754cb4" /><Relationship Type="http://schemas.openxmlformats.org/officeDocument/2006/relationships/notesSlide" Target="/ppt/notesSlides/notesSlide1.xml" Id="R586537aa28fd44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5893bebe2a4ba6" /><Relationship Type="http://schemas.openxmlformats.org/officeDocument/2006/relationships/notesSlide" Target="/ppt/notesSlides/notesSlide2.xml" Id="R67a8644866dc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d9e44715e84b11" /><Relationship Type="http://schemas.openxmlformats.org/officeDocument/2006/relationships/notesSlide" Target="/ppt/notesSlides/notesSlide3.xml" Id="Rf6ea23e0f01d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c07a1555c0412a" /><Relationship Type="http://schemas.openxmlformats.org/officeDocument/2006/relationships/notesSlide" Target="/ppt/notesSlides/notesSlide4.xml" Id="Rc9a46391bbac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c5c62d3a8140fd" /><Relationship Type="http://schemas.openxmlformats.org/officeDocument/2006/relationships/image" Target="/ppt/media/image.png" Id="R567079f3f46943f4" /><Relationship Type="http://schemas.openxmlformats.org/officeDocument/2006/relationships/notesSlide" Target="/ppt/notesSlides/notesSlide5.xml" Id="R3bf447f64b6f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122ee32e294717" /><Relationship Type="http://schemas.openxmlformats.org/officeDocument/2006/relationships/notesSlide" Target="/ppt/notesSlides/notesSlide6.xml" Id="Rfb04c5cb66ce4e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71ae44cd904222" /><Relationship Type="http://schemas.openxmlformats.org/officeDocument/2006/relationships/notesSlide" Target="/ppt/notesSlides/notesSlide7.xml" Id="R4f90216ab8a446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98ca056f5547f2" /><Relationship Type="http://schemas.openxmlformats.org/officeDocument/2006/relationships/notesSlide" Target="/ppt/notesSlides/notesSlide8.xml" Id="R1afec3481fab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0d0b1fe17f4028" /><Relationship Type="http://schemas.openxmlformats.org/officeDocument/2006/relationships/notesSlide" Target="/ppt/notesSlides/notesSlide9.xml" Id="R7ab9126aed864e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e61c25ea604b10" /><Relationship Type="http://schemas.openxmlformats.org/officeDocument/2006/relationships/chart" Target="/ppt/slides/charts/chart1.xml" Id="R9b88dc644bb74994" /><Relationship Type="http://schemas.openxmlformats.org/officeDocument/2006/relationships/notesSlide" Target="/ppt/notesSlides/notesSlide10.xml" Id="R526bd8fbb82841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8fa4903b924218" /><Relationship Type="http://schemas.openxmlformats.org/officeDocument/2006/relationships/notesSlide" Target="/ppt/notesSlides/notesSlide11.xml" Id="Rf95711c58ebf4b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156a830cd0484c" /><Relationship Type="http://schemas.openxmlformats.org/officeDocument/2006/relationships/notesSlide" Target="/ppt/notesSlides/notesSlide12.xml" Id="Rb6bbd2840b7348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cc7ee17bf1429f" /><Relationship Type="http://schemas.openxmlformats.org/officeDocument/2006/relationships/notesSlide" Target="/ppt/notesSlides/notesSlide13.xml" Id="Rdabe24d4c25948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ec6a88463446a3" /><Relationship Type="http://schemas.openxmlformats.org/officeDocument/2006/relationships/chart" Target="/ppt/slides/charts/chart2.xml" Id="R67fa3dadff3b4f69" /><Relationship Type="http://schemas.openxmlformats.org/officeDocument/2006/relationships/notesSlide" Target="/ppt/notesSlides/notesSlide14.xml" Id="Re6fc921ed4e545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79c77e752042fa" /><Relationship Type="http://schemas.openxmlformats.org/officeDocument/2006/relationships/notesSlide" Target="/ppt/notesSlides/notesSlide15.xml" Id="R09f562d4a7f140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adc7535fef4d34" /><Relationship Type="http://schemas.openxmlformats.org/officeDocument/2006/relationships/notesSlide" Target="/ppt/notesSlides/notesSlide16.xml" Id="Rcb75da053f5143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022feef5954570" /><Relationship Type="http://schemas.openxmlformats.org/officeDocument/2006/relationships/chart" Target="/ppt/slides/charts/chart3.xml" Id="Redbf8e505ede4bb2" /><Relationship Type="http://schemas.openxmlformats.org/officeDocument/2006/relationships/notesSlide" Target="/ppt/notesSlides/notesSlide17.xml" Id="R8874cd2f56584c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51fa379f87460d" /><Relationship Type="http://schemas.openxmlformats.org/officeDocument/2006/relationships/notesSlide" Target="/ppt/notesSlides/notesSlide18.xml" Id="R0ecbc23a09cb4c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9206cfa1204ccc" /><Relationship Type="http://schemas.openxmlformats.org/officeDocument/2006/relationships/notesSlide" Target="/ppt/notesSlides/notesSlide19.xml" Id="R6c72c7c806924e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d49c2fa8e8463c" /><Relationship Type="http://schemas.openxmlformats.org/officeDocument/2006/relationships/notesSlide" Target="/ppt/notesSlides/notesSlide20.xml" Id="R1fb352b1030c49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Genuine frequency</c:v>
          </c:tx>
          <c:spPr>
            <a:solidFill xmlns:a="http://schemas.openxmlformats.org/drawingml/2006/main">
              <a:srgbClr val="188B84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0.0–0.1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0.04</c:v>
                </c:pt>
                <c:pt idx="1">
                  <c:v>0.6</c:v>
                </c:pt>
                <c:pt idx="2">
                  <c:v>0.26</c:v>
                </c:pt>
                <c:pt idx="3">
                  <c:v>0.08</c:v>
                </c:pt>
                <c:pt idx="4">
                  <c:v>0.02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v>Impostor frequency</c:v>
          </c:tx>
          <c:spPr>
            <a:solidFill xmlns:a="http://schemas.openxmlformats.org/drawingml/2006/main">
              <a:srgbClr val="507DB5"/>
            </a:solidFill>
          </c:spPr>
          <c:invertIfNegative val="0"/>
          <c:cat>
            <c:strRef>
              <c:f>'Chart Data'!$C$2:$C$11</c:f>
              <c:strCache>
                <c:ptCount val="10"/>
                <c:pt idx="0">
                  <c:v>0.0–0.1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'Chart Data'!$D$2:$D$11</c:f>
              <c:numCache>
                <c:formatCode>0%</c:formatCode>
                <c:ptCount val="10"/>
                <c:pt idx="0">
                  <c:v>0.9963265306</c:v>
                </c:pt>
                <c:pt idx="1">
                  <c:v>0.0032653061</c:v>
                </c:pt>
                <c:pt idx="2">
                  <c:v>0.0004081633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crops</c:v>
          </c:tx>
          <c:spPr>
            <a:solidFill xmlns:a="http://schemas.openxmlformats.org/drawingml/2006/main">
              <a:srgbClr val="188B84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0/50</c:v>
                </c:pt>
                <c:pt idx="1">
                  <c:v>1/50</c:v>
                </c:pt>
                <c:pt idx="2">
                  <c:v>2/50</c:v>
                </c:pt>
                <c:pt idx="3">
                  <c:v>3/50</c:v>
                </c:pt>
                <c:pt idx="4">
                  <c:v>4/50</c:v>
                </c:pt>
                <c:pt idx="5">
                  <c:v>5/50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74</c:v>
                </c:pt>
                <c:pt idx="1">
                  <c:v>35</c:v>
                </c:pt>
                <c:pt idx="2">
                  <c:v>7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88B8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Mean target coverage</c:v>
                </c:pt>
                <c:pt idx="1">
                  <c:v>10-probe target union</c:v>
                </c:pt>
                <c:pt idx="2">
                  <c:v>Detector flag rate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</c:v>
                </c:pt>
                <c:pt idx="1">
                  <c:v>0.28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v>Adaptive</c:v>
          </c:tx>
          <c:spPr>
            <a:solidFill xmlns:a="http://schemas.openxmlformats.org/drawingml/2006/main">
              <a:srgbClr val="507DB5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Mean target coverage</c:v>
                </c:pt>
                <c:pt idx="1">
                  <c:v>10-probe target union</c:v>
                </c:pt>
                <c:pt idx="2">
                  <c:v>Detector flag rate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0.038</c:v>
                </c:pt>
                <c:pt idx="1">
                  <c:v>0.28</c:v>
                </c:pt>
                <c:pt idx="2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28F93036-1DE4-4659-91B4-5C317140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051560"/>
            <a:ext cx="2468880" cy="43891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5EFF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535B98F-A4B7-4FB1-A873-F5A24C7A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389888"/>
            <a:ext cx="1783080" cy="37033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F69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5EC265C-2F4A-4418-88B6-D6851BE9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1691640"/>
            <a:ext cx="1234440" cy="31272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391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CEE8DD67-2CF4-4D4E-ABA1-28AA688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1993392"/>
            <a:ext cx="713232" cy="2542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6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CCC6F3B-41C8-4E77-AC75-1A5888E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234440" cy="34747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0F4F1"/>
          </a:solidFill>
          <a:ln xmlns:a="http://schemas.openxmlformats.org/drawingml/2006/main">
            <a:solidFill>
              <a:srgbClr val="E0F4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1494A6-5A24-4DB1-99D1-00B8A7CB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740664"/>
            <a:ext cx="1097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>
            <a:defPPr>
              <a:defRPr>
                <a:latin typeface="DejaVu Sans"/>
                <a:ea typeface="DejaVu Sans"/>
                <a:cs typeface="DejaVu Sans"/>
              </a:defRPr>
            </a:defPPr>
            <a:lvl1pPr>
              <a:defRPr>
                <a:latin typeface="DejaVu Sans"/>
                <a:ea typeface="DejaVu Sans"/>
                <a:cs typeface="DejaVu Sans"/>
              </a:defRPr>
            </a:lvl1pPr>
            <a:lvl2pPr>
              <a:defRPr>
                <a:latin typeface="DejaVu Sans"/>
                <a:ea typeface="DejaVu Sans"/>
                <a:cs typeface="DejaVu Sans"/>
              </a:defRPr>
            </a:lvl2pPr>
            <a:lvl3pPr>
              <a:defRPr>
                <a:latin typeface="DejaVu Sans"/>
                <a:ea typeface="DejaVu Sans"/>
                <a:cs typeface="DejaVu Sans"/>
              </a:defRPr>
            </a:lvl3pPr>
            <a:lvl4pPr>
              <a:defRPr>
                <a:latin typeface="DejaVu Sans"/>
                <a:ea typeface="DejaVu Sans"/>
                <a:cs typeface="DejaVu Sans"/>
              </a:defRPr>
            </a:lvl4pPr>
            <a:lvl5pPr>
              <a:defRPr>
                <a:latin typeface="DejaVu Sans"/>
                <a:ea typeface="DejaVu Sans"/>
                <a:cs typeface="DejaVu Sans"/>
              </a:defRPr>
            </a:lvl5pPr>
            <a:lvl6pPr>
              <a:defRPr>
                <a:latin typeface="DejaVu Sans"/>
                <a:ea typeface="DejaVu Sans"/>
                <a:cs typeface="DejaVu Sans"/>
              </a:defRPr>
            </a:lvl6pPr>
            <a:lvl7pPr>
              <a:defRPr>
                <a:latin typeface="DejaVu Sans"/>
                <a:ea typeface="DejaVu Sans"/>
                <a:cs typeface="DejaVu Sans"/>
              </a:defRPr>
            </a:lvl7pPr>
            <a:lvl8pPr>
              <a:defRPr>
                <a:latin typeface="DejaVu Sans"/>
                <a:ea typeface="DejaVu Sans"/>
                <a:cs typeface="DejaVu Sans"/>
              </a:defRPr>
            </a:lvl8pPr>
            <a:lvl9pPr>
              <a:defRPr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3918B"/>
                </a:solidFill>
                <a:latin typeface="DejaVu Sans"/>
                <a:ea typeface="DejaVu Sans"/>
                <a:cs typeface="DejaVu Sans"/>
              </a:rPr>
              <a:t>FINAL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860E7B-1BF3-4862-9247-F0D8123D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7132320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>
            <a:defPPr>
              <a:defRPr sz="2850">
                <a:latin typeface="DejaVu Sans"/>
                <a:ea typeface="DejaVu Sans"/>
                <a:cs typeface="DejaVu Sans"/>
              </a:defRPr>
            </a:defPPr>
            <a:lvl1pPr>
              <a:defRPr sz="2850">
                <a:latin typeface="DejaVu Sans"/>
                <a:ea typeface="DejaVu Sans"/>
                <a:cs typeface="DejaVu Sans"/>
              </a:defRPr>
            </a:lvl1pPr>
            <a:lvl2pPr>
              <a:defRPr sz="2850">
                <a:latin typeface="DejaVu Sans"/>
                <a:ea typeface="DejaVu Sans"/>
                <a:cs typeface="DejaVu Sans"/>
              </a:defRPr>
            </a:lvl2pPr>
            <a:lvl3pPr>
              <a:defRPr sz="2850">
                <a:latin typeface="DejaVu Sans"/>
                <a:ea typeface="DejaVu Sans"/>
                <a:cs typeface="DejaVu Sans"/>
              </a:defRPr>
            </a:lvl3pPr>
            <a:lvl4pPr>
              <a:defRPr sz="2850">
                <a:latin typeface="DejaVu Sans"/>
                <a:ea typeface="DejaVu Sans"/>
                <a:cs typeface="DejaVu Sans"/>
              </a:defRPr>
            </a:lvl4pPr>
            <a:lvl5pPr>
              <a:defRPr sz="2850">
                <a:latin typeface="DejaVu Sans"/>
                <a:ea typeface="DejaVu Sans"/>
                <a:cs typeface="DejaVu Sans"/>
              </a:defRPr>
            </a:lvl5pPr>
            <a:lvl6pPr>
              <a:defRPr sz="2850">
                <a:latin typeface="DejaVu Sans"/>
                <a:ea typeface="DejaVu Sans"/>
                <a:cs typeface="DejaVu Sans"/>
              </a:defRPr>
            </a:lvl6pPr>
            <a:lvl7pPr>
              <a:defRPr sz="2850">
                <a:latin typeface="DejaVu Sans"/>
                <a:ea typeface="DejaVu Sans"/>
                <a:cs typeface="DejaVu Sans"/>
              </a:defRPr>
            </a:lvl7pPr>
            <a:lvl8pPr>
              <a:defRPr sz="2850">
                <a:latin typeface="DejaVu Sans"/>
                <a:ea typeface="DejaVu Sans"/>
                <a:cs typeface="DejaVu Sans"/>
              </a:defRPr>
            </a:lvl8pPr>
            <a:lvl9pPr>
              <a:defRPr sz="2850"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850" b="1" i="0">
                <a:solidFill>
                  <a:srgbClr val="162A4A"/>
                </a:solidFill>
                <a:latin typeface="DejaVu Sans"/>
                <a:ea typeface="DejaVu Sans"/>
                <a:cs typeface="DejaVu Sans"/>
              </a:rPr>
              <a:t>MasterPrint Attacks on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850" b="1" i="0">
                <a:solidFill>
                  <a:srgbClr val="162A4A"/>
                </a:solidFill>
                <a:latin typeface="DejaVu Sans"/>
                <a:ea typeface="DejaVu Sans"/>
                <a:cs typeface="DejaVu Sans"/>
              </a:rPr>
              <a:t>Partial Fingerprint Authentication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162E507-880A-4A4C-9C31-A51A81C4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63240"/>
            <a:ext cx="6629400" cy="644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>
            <a:defPPr>
              <a:defRPr sz="1875">
                <a:latin typeface="DejaVu Sans"/>
                <a:ea typeface="DejaVu Sans"/>
                <a:cs typeface="DejaVu Sans"/>
              </a:defRPr>
            </a:defPPr>
            <a:lvl1pPr>
              <a:defRPr sz="1875">
                <a:latin typeface="DejaVu Sans"/>
                <a:ea typeface="DejaVu Sans"/>
                <a:cs typeface="DejaVu Sans"/>
              </a:defRPr>
            </a:lvl1pPr>
            <a:lvl2pPr>
              <a:defRPr sz="1875">
                <a:latin typeface="DejaVu Sans"/>
                <a:ea typeface="DejaVu Sans"/>
                <a:cs typeface="DejaVu Sans"/>
              </a:defRPr>
            </a:lvl2pPr>
            <a:lvl3pPr>
              <a:defRPr sz="1875">
                <a:latin typeface="DejaVu Sans"/>
                <a:ea typeface="DejaVu Sans"/>
                <a:cs typeface="DejaVu Sans"/>
              </a:defRPr>
            </a:lvl3pPr>
            <a:lvl4pPr>
              <a:defRPr sz="1875">
                <a:latin typeface="DejaVu Sans"/>
                <a:ea typeface="DejaVu Sans"/>
                <a:cs typeface="DejaVu Sans"/>
              </a:defRPr>
            </a:lvl4pPr>
            <a:lvl5pPr>
              <a:defRPr sz="1875">
                <a:latin typeface="DejaVu Sans"/>
                <a:ea typeface="DejaVu Sans"/>
                <a:cs typeface="DejaVu Sans"/>
              </a:defRPr>
            </a:lvl5pPr>
            <a:lvl6pPr>
              <a:defRPr sz="1875">
                <a:latin typeface="DejaVu Sans"/>
                <a:ea typeface="DejaVu Sans"/>
                <a:cs typeface="DejaVu Sans"/>
              </a:defRPr>
            </a:lvl6pPr>
            <a:lvl7pPr>
              <a:defRPr sz="1875">
                <a:latin typeface="DejaVu Sans"/>
                <a:ea typeface="DejaVu Sans"/>
                <a:cs typeface="DejaVu Sans"/>
              </a:defRPr>
            </a:lvl7pPr>
            <a:lvl8pPr>
              <a:defRPr sz="1875">
                <a:latin typeface="DejaVu Sans"/>
                <a:ea typeface="DejaVu Sans"/>
                <a:cs typeface="DejaVu Sans"/>
              </a:defRPr>
            </a:lvl8pPr>
            <a:lvl9pPr>
              <a:defRPr sz="1875"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75" b="0" i="0">
                <a:solidFill>
                  <a:srgbClr val="5B697A"/>
                </a:solidFill>
                <a:latin typeface="DejaVu Sans"/>
                <a:ea typeface="DejaVu Sans"/>
                <a:cs typeface="DejaVu Sans"/>
              </a:rPr>
              <a:t>Real-data evaluation, risk detection</a:t>
            </a:r>
          </a:p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75" b="0" i="0">
                <a:solidFill>
                  <a:srgbClr val="5B697A"/>
                </a:solidFill>
                <a:latin typeface="DejaVu Sans"/>
                <a:ea typeface="DejaVu Sans"/>
                <a:cs typeface="DejaVu Sans"/>
              </a:rPr>
              <a:t>and adaptive candidate selection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35A130C-7340-4EEF-B0E8-2B863EF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24528"/>
            <a:ext cx="5120640" cy="65836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8ED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6AA2A-A37F-4C31-8AB8-3FB6BE1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07408"/>
            <a:ext cx="4663440" cy="2788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>
            <a:defPPr>
              <a:defRPr sz="1350">
                <a:latin typeface="DejaVu Sans"/>
                <a:ea typeface="DejaVu Sans"/>
                <a:cs typeface="DejaVu Sans"/>
              </a:defRPr>
            </a:defPPr>
            <a:lvl1pPr>
              <a:defRPr sz="1350">
                <a:latin typeface="DejaVu Sans"/>
                <a:ea typeface="DejaVu Sans"/>
                <a:cs typeface="DejaVu Sans"/>
              </a:defRPr>
            </a:lvl1pPr>
            <a:lvl2pPr>
              <a:defRPr sz="1350">
                <a:latin typeface="DejaVu Sans"/>
                <a:ea typeface="DejaVu Sans"/>
                <a:cs typeface="DejaVu Sans"/>
              </a:defRPr>
            </a:lvl2pPr>
            <a:lvl3pPr>
              <a:defRPr sz="1350">
                <a:latin typeface="DejaVu Sans"/>
                <a:ea typeface="DejaVu Sans"/>
                <a:cs typeface="DejaVu Sans"/>
              </a:defRPr>
            </a:lvl3pPr>
            <a:lvl4pPr>
              <a:defRPr sz="1350">
                <a:latin typeface="DejaVu Sans"/>
                <a:ea typeface="DejaVu Sans"/>
                <a:cs typeface="DejaVu Sans"/>
              </a:defRPr>
            </a:lvl4pPr>
            <a:lvl5pPr>
              <a:defRPr sz="1350">
                <a:latin typeface="DejaVu Sans"/>
                <a:ea typeface="DejaVu Sans"/>
                <a:cs typeface="DejaVu Sans"/>
              </a:defRPr>
            </a:lvl5pPr>
            <a:lvl6pPr>
              <a:defRPr sz="1350">
                <a:latin typeface="DejaVu Sans"/>
                <a:ea typeface="DejaVu Sans"/>
                <a:cs typeface="DejaVu Sans"/>
              </a:defRPr>
            </a:lvl6pPr>
            <a:lvl7pPr>
              <a:defRPr sz="1350">
                <a:latin typeface="DejaVu Sans"/>
                <a:ea typeface="DejaVu Sans"/>
                <a:cs typeface="DejaVu Sans"/>
              </a:defRPr>
            </a:lvl7pPr>
            <a:lvl8pPr>
              <a:defRPr sz="1350">
                <a:latin typeface="DejaVu Sans"/>
                <a:ea typeface="DejaVu Sans"/>
                <a:cs typeface="DejaVu Sans"/>
              </a:defRPr>
            </a:lvl8pPr>
            <a:lvl9pPr>
              <a:defRPr sz="1350"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50" b="1" i="0">
                <a:solidFill>
                  <a:srgbClr val="283444"/>
                </a:solidFill>
                <a:latin typeface="DejaVu Sans"/>
                <a:ea typeface="DejaVu Sans"/>
                <a:cs typeface="DejaVu Sans"/>
              </a:rPr>
              <a:t>Python implementation with SOCOFing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D2A4DA-AE8E-4E6A-A344-BC2D97B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144768"/>
            <a:ext cx="5029200" cy="233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>
            <a:defPPr>
              <a:defRPr sz="1050">
                <a:latin typeface="DejaVu Sans"/>
                <a:ea typeface="DejaVu Sans"/>
                <a:cs typeface="DejaVu Sans"/>
              </a:defRPr>
            </a:defPPr>
            <a:lvl1pPr>
              <a:defRPr sz="1050">
                <a:latin typeface="DejaVu Sans"/>
                <a:ea typeface="DejaVu Sans"/>
                <a:cs typeface="DejaVu Sans"/>
              </a:defRPr>
            </a:lvl1pPr>
            <a:lvl2pPr>
              <a:defRPr sz="1050">
                <a:latin typeface="DejaVu Sans"/>
                <a:ea typeface="DejaVu Sans"/>
                <a:cs typeface="DejaVu Sans"/>
              </a:defRPr>
            </a:lvl2pPr>
            <a:lvl3pPr>
              <a:defRPr sz="1050">
                <a:latin typeface="DejaVu Sans"/>
                <a:ea typeface="DejaVu Sans"/>
                <a:cs typeface="DejaVu Sans"/>
              </a:defRPr>
            </a:lvl3pPr>
            <a:lvl4pPr>
              <a:defRPr sz="1050">
                <a:latin typeface="DejaVu Sans"/>
                <a:ea typeface="DejaVu Sans"/>
                <a:cs typeface="DejaVu Sans"/>
              </a:defRPr>
            </a:lvl4pPr>
            <a:lvl5pPr>
              <a:defRPr sz="1050">
                <a:latin typeface="DejaVu Sans"/>
                <a:ea typeface="DejaVu Sans"/>
                <a:cs typeface="DejaVu Sans"/>
              </a:defRPr>
            </a:lvl5pPr>
            <a:lvl6pPr>
              <a:defRPr sz="1050">
                <a:latin typeface="DejaVu Sans"/>
                <a:ea typeface="DejaVu Sans"/>
                <a:cs typeface="DejaVu Sans"/>
              </a:defRPr>
            </a:lvl6pPr>
            <a:lvl7pPr>
              <a:defRPr sz="1050">
                <a:latin typeface="DejaVu Sans"/>
                <a:ea typeface="DejaVu Sans"/>
                <a:cs typeface="DejaVu Sans"/>
              </a:defRPr>
            </a:lvl7pPr>
            <a:lvl8pPr>
              <a:defRPr sz="1050">
                <a:latin typeface="DejaVu Sans"/>
                <a:ea typeface="DejaVu Sans"/>
                <a:cs typeface="DejaVu Sans"/>
              </a:defRPr>
            </a:lvl8pPr>
            <a:lvl9pPr>
              <a:defRPr sz="1050"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5B697A"/>
                </a:solidFill>
                <a:latin typeface="DejaVu Sans"/>
                <a:ea typeface="DejaVu Sans"/>
                <a:cs typeface="DejaVu Sans"/>
              </a:rPr>
              <a:t>Final research implementation • 29 October 2026</a:t>
            </a:r>
          </a:p>
        </p:txBody>
      </p:sp>
    </p:spTree>
    <p:extLst>
      <p:ext uri="{BB962C8B-B14F-4D97-AF65-F5344CB8AC3E}">
        <p14:creationId xmlns:p14="http://schemas.microsoft.com/office/powerpoint/2010/main" val="691096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AF38D86-F043-4C1A-92CB-F89C8747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Partial fingerprint authentication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BD1E41-0023-4DA7-A8B2-7030525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6B889F7-5972-4AF6-8723-3F82F3E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A901A1-3272-4CDD-8652-29D2810F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A small sensor captures a limited region of a finger.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715B37-F2F6-44EB-9E54-32EC0D0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Enrollment can store several partial templates for each identity.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63BD2ED-5CBD-4881-8977-B08B3D1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An identity accepts a probe when any enrolled template passes.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725CA3C-C7CF-4CCB-A1A3-4C650C26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A broad-matching candidate can create more risk than an average impostor.</a:t>
            </a:r>
          </a:p>
        </p:txBody>
      </p:sp>
    </p:spTree>
    <p:extLst>
      <p:ext uri="{BB962C8B-B14F-4D97-AF65-F5344CB8AC3E}">
        <p14:creationId xmlns:p14="http://schemas.microsoft.com/office/powerpoint/2010/main" val="1196246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C1B762B-D060-4DBE-B01C-8121C293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Project objectives and completed scope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BCF9519-D7F4-416E-B138-260DEFE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5C6ABED-86DE-4386-9420-1DAE0D5F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7A012-45D7-453F-A50D-85997356FEB1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8334375"/>
              </a:tblGrid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Objective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 behavior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Calibrate scores and count accepted identities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Train a Random Forest on an independent reference gallery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Stress-test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baseline and detector-aware crop selection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048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Reproduce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Save split manifests, models, scores and measured reports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5F1F2EE-4D14-48D5-BC2C-02839C43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The core uses CPU processing and runs offline with the included data.</a:t>
            </a:r>
          </a:p>
        </p:txBody>
      </p:sp>
    </p:spTree>
    <p:extLst>
      <p:ext uri="{BB962C8B-B14F-4D97-AF65-F5344CB8AC3E}">
        <p14:creationId xmlns:p14="http://schemas.microsoft.com/office/powerpoint/2010/main" val="316668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D3A9DFE-C3C9-4395-AF37-D436B7F1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Research context and interpretation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4B23FA3-19E8-443E-A73D-24299C18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FDE2EFD-C928-4AF8-9832-BEF92EB3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50F3F7-A86C-4937-ADE5-0A02D8E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MasterPrint: a candidate that matches multiple unrelated identities.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6ACB944-9621-487B-B08A-448740CE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Prior work explores sampled candidates and generated fingerprint images.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9564C90-06C9-4A37-8FCE-2C6DB1DD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This implementation studies existing crops and a reference-gallery detector.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1674AFF-4256-42AA-A9AA-B9D75682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Generative DeepMasterPrints and physical spoofing remain outside this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029810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7CBD7CE-2C1C-4A49-9EAB-0CE7C25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Real dataset: SOCOFing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D508AB-43EC-476C-8F31-37F48B4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F67B93-E083-45F7-8F5A-524E361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319E20-C3F3-486E-8829-E915260A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6,000 originals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7F431A-B88E-4E52-8C7A-E574E1B1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600 people in the source 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694E68-823B-4820-BF5E-8546222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700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Experiment: 300 people, one left index image each</a:t>
            </a:r>
          </a:p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No altered images enter training or evaluation</a:t>
            </a:r>
          </a:p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Every included image has a SHA-256 provenance record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13849-7120-43BA-A450-407AF128A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079f3f46943f4"/>
          <a:stretch xmlns:a="http://schemas.openxmlformats.org/drawingml/2006/main"/>
        </p:blipFill>
        <p:spPr>
          <a:xfrm xmlns:a="http://schemas.openxmlformats.org/drawingml/2006/main">
            <a:off x="8572500" y="1964531"/>
            <a:ext cx="2286000" cy="2452688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312E9AA-E4A4-415F-A703-BDC1BA1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One capture per finger limits this experiment to a same-image crop study.</a:t>
            </a:r>
          </a:p>
        </p:txBody>
      </p:sp>
    </p:spTree>
    <p:extLst>
      <p:ext uri="{BB962C8B-B14F-4D97-AF65-F5344CB8AC3E}">
        <p14:creationId xmlns:p14="http://schemas.microsoft.com/office/powerpoint/2010/main" val="1903147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E321B99-B6AF-4227-A93A-77FD03D0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Seven disjoint groups of people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F76E19-500B-4714-863F-66B744E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E722D8-A086-407B-A3DD-3F36C2B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CF6FC-D095-468D-9426-F3B7403DB9D8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714500"/>
                <a:gridCol w="5238750"/>
              </a:tblGrid>
              <a:tr h="603250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Group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603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Calibration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Freeze matcher threshold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03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 gallery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Compute detector 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Label gallery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Define broad-match proxy labels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03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gallery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 unseen coverage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Detector train / validation / test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/ 25 / 25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Fit model / tune settings / evaluate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1121BE2-1380-4AC1-86C0-2F6FFD81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People, reference identities and target identities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853635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1CE2486-69C9-448E-9280-A117410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Partial-image protocol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1FCF213-3D16-42E4-8AA2-C914ED4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830B5A-4F80-4002-A3A6-BDC12499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3CE93B-7A12-45BC-8004-83DA0ADC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Create five fixed crops: four corners and the center.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DC54170-CE0F-4B3C-8921-D4DAA11A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Each side is 70% of the original, covering about 49% of its area.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0B52291-1D23-42FA-9ACC-488E6C5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Each gallery identity enrolls three corner crops with OR acceptance.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0C57DC-84C7-4AEA-9A8F-DF876C2B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Calibration compares a center crop with the three enrolled crops.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5FA61FB-B6CD-4147-9C28-08A59A78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Overlapping crops share the same capture. Genuine-match performance is optimistic.</a:t>
            </a:r>
          </a:p>
        </p:txBody>
      </p:sp>
    </p:spTree>
    <p:extLst>
      <p:ext uri="{BB962C8B-B14F-4D97-AF65-F5344CB8AC3E}">
        <p14:creationId xmlns:p14="http://schemas.microsoft.com/office/powerpoint/2010/main" val="1887599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7CF1B8F-6C8D-4506-AC6C-8ABC0C27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Feature extraction and research matching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9C00516-30E2-42F8-8086-635FF7D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A94A53-667C-43CF-8E18-0F7BF483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A8F4B-A726-49FF-B7BB-B0E7A088C19E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7858125"/>
              </a:tblGrid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Preprocessing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2× interpolation followed by CLAHE contrast enhancement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Minutiae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Ridge thinning, crossing-number points and local SIFT descriptors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ORB comparison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Binary image keypoint descriptors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Ratio-filtered correspondences and RANSAC similarity transform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Geometric inliers / smaller template point count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B548AB4-030E-4DE8-A2CC-FD32366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The minutiae baseline uses approximate ridge points and descriptors, without NBIS.</a:t>
            </a:r>
          </a:p>
        </p:txBody>
      </p:sp>
    </p:spTree>
    <p:extLst>
      <p:ext uri="{BB962C8B-B14F-4D97-AF65-F5344CB8AC3E}">
        <p14:creationId xmlns:p14="http://schemas.microsoft.com/office/powerpoint/2010/main" val="582980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EBB160B-DADC-4E3E-B42A-ED0571A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Matcher calibration at a 1% FMR target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BBFECC-3099-4AFC-A21F-F31D49D2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67DB03-1485-45B0-88EC-9555348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FC5B7-2B15-41EE-AEF7-C25B2224738C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095625"/>
                <a:gridCol w="3095625"/>
              </a:tblGrid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Minutiae baseline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ORB comparison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threshold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0.051282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0.080000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Measured calibration FMR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Calibration FNMR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Empirical EER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Genuine / impostor scores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/ 2,450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/ 2,450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998A716-5CD7-4826-B757-BEB62EBE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Threshold ties can make the achieved FMR lower than the requested 1%.</a:t>
            </a:r>
          </a:p>
        </p:txBody>
      </p:sp>
    </p:spTree>
    <p:extLst>
      <p:ext uri="{BB962C8B-B14F-4D97-AF65-F5344CB8AC3E}">
        <p14:creationId xmlns:p14="http://schemas.microsoft.com/office/powerpoint/2010/main" val="1182625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F0FFBD3-2B71-4681-BBA2-AE509D42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Calibration score distributions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E0AA60F-8D2A-429D-8669-021AC918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31220E-F33B-498E-83F0-301FCD7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36C3D5B-329B-483D-BEAA-913A3DF30FCD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88dc644bb74994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8633596-1728-4F0A-A922-D9469DD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Minutiae baseline. Horizontal axis: similarity bins. Vertical axis: fraction of comparisons.</a:t>
            </a:r>
          </a:p>
        </p:txBody>
      </p:sp>
    </p:spTree>
    <p:extLst>
      <p:ext uri="{BB962C8B-B14F-4D97-AF65-F5344CB8AC3E}">
        <p14:creationId xmlns:p14="http://schemas.microsoft.com/office/powerpoint/2010/main" val="1678749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E2E7683-5257-4C28-A3EB-577D3B74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Risk detector and proxy labels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99A6DF-8E89-46D1-99F4-E5E652F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10CB38-B7D6-4D61-9B12-433B860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CAE04B-D824-425C-A4F8-641CFE2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Input: score summaries against 50 reference identities plus image quality.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0163676-2F23-4025-BB8A-8D54B06D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Twelve features include quantiles, top scores and keypoint count.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0237C59-1727-43E5-9CE9-6F590F7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Positive label: the crop passes at least two of 50 label identities.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B89044-F766-4113-A7C0-654CC3D7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Random Forest: 300 trees, balanced class weights, minimum leaf size 3.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DD69D8C-9815-4ED4-84AB-F513C7A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The label gallery defines the proxy outcome. It never supplies detector features.</a:t>
            </a:r>
          </a:p>
        </p:txBody>
      </p:sp>
    </p:spTree>
    <p:extLst>
      <p:ext uri="{BB962C8B-B14F-4D97-AF65-F5344CB8AC3E}">
        <p14:creationId xmlns:p14="http://schemas.microsoft.com/office/powerpoint/2010/main" val="407351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D83F286-C77D-4E1B-99B8-A3DFAEF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Held-out detector performance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BBEA47-2F30-4E52-923A-22D4D03F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26968B-0658-42FE-8BC7-AEFBFB2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9E1DF-AF8C-4B28-B9F8-5061D101EE76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524250"/>
                <a:gridCol w="3524250"/>
              </a:tblGrid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Minutiae detector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broad match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other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Flagged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true positives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false positives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30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flagged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 false negatives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true negatives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333A769-3CD1-4BF4-831E-0A52A83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AUC 0.808     TPR 40.00%     FPR 5.26%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38F8082-D484-4A75-902A-7E44E98B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The operating point misses 18 of the 30 positive crops.</a:t>
            </a:r>
          </a:p>
        </p:txBody>
      </p:sp>
    </p:spTree>
    <p:extLst>
      <p:ext uri="{BB962C8B-B14F-4D97-AF65-F5344CB8AC3E}">
        <p14:creationId xmlns:p14="http://schemas.microsoft.com/office/powerpoint/2010/main" val="2109643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3198715-6ED0-45DB-B520-9B00BE70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Comparison under the same person split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E6A85E-ED7A-4C03-A1B1-B65BDCC6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914D49-8C80-403B-860B-8EBA9185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FDCA1-40AB-4CA8-9DB7-1F4C9259B340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3000375"/>
                <a:gridCol w="3000375"/>
              </a:tblGrid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Held-out measure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Minutiae baseline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ORB comparison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Detector test AUC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0.808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defined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Detector TPR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defined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Detector FPR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5.26%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defined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random-crop target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1.33%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single-crop coverage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AF31094-D0F9-4B0A-A210-09E452E1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ORB has no positive proxy labels at this threshold, so detector metrics are undefined.</a:t>
            </a:r>
          </a:p>
        </p:txBody>
      </p:sp>
    </p:spTree>
    <p:extLst>
      <p:ext uri="{BB962C8B-B14F-4D97-AF65-F5344CB8AC3E}">
        <p14:creationId xmlns:p14="http://schemas.microsoft.com/office/powerpoint/2010/main" val="20089264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3AC2781-E307-45B8-9458-6A12B336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Unseen-gallery coverage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B932A27-0B58-4855-A960-1C02CAE9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9A6C2C-D6CE-4AC5-84C3-EE68AE6B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7CEFBDC-E5A4-40AC-99C6-EC8DE63591D3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57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fa3dadff3b4f69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7E36A7E-7F21-4F13-B6EC-844EA784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Mean 1.33%. Person-bootstrap 95% interval 0.91% to 1.82%.</a:t>
            </a:r>
          </a:p>
        </p:txBody>
      </p:sp>
    </p:spTree>
    <p:extLst>
      <p:ext uri="{BB962C8B-B14F-4D97-AF65-F5344CB8AC3E}">
        <p14:creationId xmlns:p14="http://schemas.microsoft.com/office/powerpoint/2010/main" val="332673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9CC3E38C-0832-45A9-9427-9EBE1A9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Adaptive evaluation protocol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24C98EB-77F7-4FD7-95E8-F5A3AF64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4B81D7-FB86-4ECE-83BD-97A78592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62FAD4-2DCB-4FF9-AA52-4A4F6606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Selection score = discovery coverage − λ × detector probability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DE707A6-1DE2-46F4-935B-210B196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Compare 10 selected crops from the same held-out candidate pool.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8CF1FEB-89B6-4BAA-A46B-D69C4F1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Tune λ on validation to lower detection while retaining discovery coverage.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B81020-27B4-4CA8-B6EA-45AA2C6F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Freeze λ before selecting test candidates.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C1ECA74-DB57-4499-9F6C-DD85130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29225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Read target-gallery coverage only after candidate selection.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7424DC4-1625-4346-81FC-96DB3249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This is a finite crop-selection experiment with full detector access.</a:t>
            </a:r>
          </a:p>
        </p:txBody>
      </p:sp>
    </p:spTree>
    <p:extLst>
      <p:ext uri="{BB962C8B-B14F-4D97-AF65-F5344CB8AC3E}">
        <p14:creationId xmlns:p14="http://schemas.microsoft.com/office/powerpoint/2010/main" val="21175380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BA57807-D05D-479B-B9D5-DC800A5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Adaptive selection retains coverage with fewer flags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DDEBCCA-E865-498E-B54A-58C7EF43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3F1686-E700-4C6E-B72A-C304D0F3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4125A-9D82-41D6-95F6-97E4AC7034EB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857500"/>
                <a:gridCol w="2857500"/>
              </a:tblGrid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Adaptive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crops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discovery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unseen-target coverage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3.80%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union across 10 crops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Detector flag rate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42D4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10.00%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62FF9E9-B702-4A4E-BD45-A0AADB71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Validation chooses λ = 0.1. Retained mean target coverage: 95.0%.</a:t>
            </a:r>
          </a:p>
        </p:txBody>
      </p:sp>
    </p:spTree>
    <p:extLst>
      <p:ext uri="{BB962C8B-B14F-4D97-AF65-F5344CB8AC3E}">
        <p14:creationId xmlns:p14="http://schemas.microsoft.com/office/powerpoint/2010/main" val="624522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64288A5-F82B-45F7-A252-0FBCAEFA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Coverage and detection must be assessed together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3AC1C3-5EB8-4917-A856-65552872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493C0F-FC70-4477-B63A-02CA8074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7C13850-253A-47ED-BDF3-9822BBCA1BE8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bf8e505ede4bb2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E2EE6E2-5F4D-4C4E-82D7-D81062E9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The detector leaves residual risk under adaptation in this local experiment.</a:t>
            </a:r>
          </a:p>
        </p:txBody>
      </p:sp>
    </p:spTree>
    <p:extLst>
      <p:ext uri="{BB962C8B-B14F-4D97-AF65-F5344CB8AC3E}">
        <p14:creationId xmlns:p14="http://schemas.microsoft.com/office/powerpoint/2010/main" val="21216761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1928D5E-B415-49BE-B54C-506A5B75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Reproducible offline execution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040C12-F23C-4C87-BFDE-D8CBE71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17515F-237E-4D06-A01D-8D71D60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CA61DE-D23D-4193-A28C-7C0C08F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Python 3.12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57D8EC9-D952-491A-9307-6055EDB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pip install -r requirements.txt</a:t>
            </a:r>
          </a:p>
          <a:p xmlns:a="http://schemas.openxmlformats.org/drawingml/2006/main">
            <a: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python -m unittest discover -s tests -v</a:t>
            </a:r>
          </a:p>
          <a:p xmlns:a="http://schemas.openxmlformats.org/drawingml/2006/main">
            <a: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python run_all.py</a:t>
            </a:r>
          </a:p>
          <a:p xmlns:a="http://schemas.openxmlformats.org/drawingml/2006/main">
            <a: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python verify_results.py results/minutiae</a:t>
            </a:r>
          </a:p>
          <a:p xmlns:a="http://schemas.openxmlformats.org/drawingml/2006/main">
            <a:pPr>
              <a:def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python verify_results.py results/orb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52F6CE2-4149-45B0-B1FC-2415ED52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Included: real image subset, trained models, raw scores, manifests and result reports.</a:t>
            </a:r>
          </a:p>
        </p:txBody>
      </p:sp>
    </p:spTree>
    <p:extLst>
      <p:ext uri="{BB962C8B-B14F-4D97-AF65-F5344CB8AC3E}">
        <p14:creationId xmlns:p14="http://schemas.microsoft.com/office/powerpoint/2010/main" val="15958377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8A7129D-7C65-42CA-9117-A6F32406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Conclusions and limits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18E621-CF2D-445D-A64A-3613BCD8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8A5DC24-5BF6-4CDE-9432-4C7925F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80AE65-3A51-4227-B84D-C67270C5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The implementation measures broad acceptance and detector behavior on real images.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69036F-1F25-4E5A-AA4B-23F1BCF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Adaptive crop selection reduces flags while preserving most measured coverage.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66E8AC-E101-4AD7-AA09-5C742331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Same-image overlap, proxy labels and one split limit generalization.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48370AC-A071-4B9A-953F-52BCE36F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Independent captures, larger cohorts and a validated matcher are the next evaluation step.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664B372-ED51-4DC3-B555-23DB1121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The evidence supports a research baseline. Device-level bypass and production defence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1009802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4858459F-9CE4-4485-AD73-F70461F0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References and result provenance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B44A90B-399F-41DF-8A97-7C55E3D7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MASTERPRINT RESEARCH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DFE46F5-BFCF-444A-BA6D-962C36F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85154E-468D-4D72-83B3-06D42DB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Roy, Memon and Ross (2017)</a:t>
            </a:r>
          </a:p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MasterPrint: Exploring the Vulnerability of Partial Fingerprint-Based Authentication Systems</a:t>
            </a:r>
          </a:p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IEEE TIFS, DOI: 10.1109/TIFS.2017.2691658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FB328C-7458-4C5A-820E-084AB32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Shehu, Ruiz-Garcia, Palade and James (2018)</a:t>
            </a:r>
          </a:p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Sokoto Coventry Fingerprint Dataset, arXiv:1807.10609</a:t>
            </a:r>
          </a:p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SOCOFing distribution: kaggle.com/datasets/ruizgara/socofing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5645619-017C-43B6-A354-95BD42BD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Bontrager et al. (2018)</a:t>
            </a:r>
          </a:p>
          <a:p xmlns:a="http://schemas.openxmlformats.org/drawingml/2006/main">
            <a:pPr>
              <a:def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40536A"/>
                </a:solidFill>
                <a:latin typeface="DejaVu Sans"/>
                <a:ea typeface="DejaVu Sans"/>
                <a:cs typeface="DejaVu Sans"/>
              </a:rPr>
              <a:t>DeepMasterPrints, BTAS, arXiv:1705.07386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7B2C10D-EAC4-4C9D-9D31-331372F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88B84"/>
                </a:solidFill>
                <a:latin typeface="DejaVu Sans"/>
                <a:ea typeface="DejaVu Sans"/>
                <a:cs typeface="DejaVu Sans"/>
              </a:rPr>
              <a:t>Measured results: results/minutiae/ and results/orb/ in the delivered code package</a:t>
            </a:r>
          </a:p>
        </p:txBody>
      </p:sp>
    </p:spTree>
    <p:extLst>
      <p:ext uri="{BB962C8B-B14F-4D97-AF65-F5344CB8AC3E}">
        <p14:creationId xmlns:p14="http://schemas.microsoft.com/office/powerpoint/2010/main" val="18822815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2026-10-28T20:55:24.1010000Z</dcterms:created>
  <dcterms:modified xsi:type="dcterms:W3CDTF">2026-10-28T20:55:24.1010000Z</dcterms:modified>
</coreProperties>
</file>